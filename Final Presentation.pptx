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2" r:id="rId1"/>
    <p:sldMasterId id="2147483713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858000" cy="9144000"/>
  <p:embeddedFontLst>
    <p:embeddedFont>
      <p:font typeface="DM Sans" panose="020F0502020204030204" pitchFamily="2" charset="0"/>
      <p:regular r:id="rId24"/>
      <p:bold r:id="rId25"/>
      <p:italic r:id="rId26"/>
      <p:boldItalic r:id="rId27"/>
    </p:embeddedFont>
    <p:embeddedFont>
      <p:font typeface="DM Sans Light" panose="020B0604020202020204" charset="0"/>
      <p:regular r:id="rId28"/>
      <p:bold r:id="rId29"/>
      <p:italic r:id="rId30"/>
      <p:boldItalic r:id="rId31"/>
    </p:embeddedFont>
    <p:embeddedFont>
      <p:font typeface="DM Sans SemiBold" panose="020B0604020202020204" charset="0"/>
      <p:regular r:id="rId32"/>
      <p:bold r:id="rId33"/>
      <p:italic r:id="rId34"/>
      <p:boldItalic r:id="rId35"/>
    </p:embeddedFont>
    <p:embeddedFont>
      <p:font typeface="Newsreader" panose="020B0604020202020204" charset="0"/>
      <p:regular r:id="rId36"/>
      <p:bold r:id="rId37"/>
      <p:italic r:id="rId38"/>
      <p:boldItalic r:id="rId39"/>
    </p:embeddedFont>
    <p:embeddedFont>
      <p:font typeface="Newsreader SemiBold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en Sippel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65CCC5-E06B-485A-BA1E-93D77C7B66BD}">
  <a:tblStyle styleId="{4365CCC5-E06B-485A-BA1E-93D77C7B66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742" y="2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9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4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18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2-06T20:16:50.654" idx="1">
    <p:pos x="6000" y="0"/>
    <p:text>https://rit.zoom.us/j/95494373486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800809f767_0_2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800809f767_0_2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800809f767_0_2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800809f767_0_2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ae27365fd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ae27365fd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e27365fdc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ae27365fdc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ae27365fd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ae27365fdc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ae27365fd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ae27365fd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 of Paychex and related financial processes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Reducing internal handling of sensitive data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Reducing reliance on insecure workflows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Access to Paychex restricted to finance and accounting staff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Limiting exposure of payroll and financial information 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Reducing unnecessary privilege distribution.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defined password policy is in place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Employees are trained every 3 months on how to comply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Servers, desktops, and laptops have McAfee deployed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Establishing a baseline level of endpoint protection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Accurate device inventory maintained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Giving clear asset visibility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e27365fd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ae27365fd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ae27365fdc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ae27365fdc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ae27365fdc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ae27365fdc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ae27365fdc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ae27365fdc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ae27365fdc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ae27365fdc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e27365fdc_1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ae27365fdc_1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ae27365fdc_1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ae27365fdc_1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e27365fdc_1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ae27365fdc_1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ae27365fdc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ae27365fdc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ae27365fdc_1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ae27365fdc_1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e27365fdc_1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ae27365fdc_1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ae27365fdc_1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ae27365fdc_1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ae27365fdc_1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ae27365fdc_1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800809f767_0_2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800809f767_0_2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only">
  <p:cSld name="BLANK_1_1_1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BLANK_1_1_1_1_3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2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3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4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5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yebrow ">
  <p:cSld name="BLANK_1_1_1_1_2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agenda">
  <p:cSld name="BLANK_1_1_1_1_1_1_1_1_1_1_1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subTitle" idx="1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3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ubTitle" idx="4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5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6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7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Horizontal - Light">
  <p:cSld name="BLANK_1_1_1_1_1_1_1_1_1_1_1_1_1_1_2">
    <p:bg>
      <p:bgPr>
        <a:solidFill>
          <a:schemeClr val="accent6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3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5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6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7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8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Horizontal - Light - Alt 1">
  <p:cSld name="BLANK_1_1_1_1_1_1_1_1_1_1_1_1_1_1_2_2">
    <p:bg>
      <p:bgPr>
        <a:solidFill>
          <a:schemeClr val="accent6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2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3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4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5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6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7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ubTitle" idx="8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9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Horizontal - Dark">
  <p:cSld name="BLANK_1_1_1_1_1_1_1_1_1_1_1_1_1_1_2_1"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2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3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4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5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6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7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8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four big ideas">
  <p:cSld name="BLANK_1_1_1_1_1_1_1_1_1_1_1_1_1_1_1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2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4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subTitle" idx="5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6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ubTitle" idx="7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8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9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13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big ideas">
  <p:cSld name="BLANK_1_1_1_1_1_1_1_1_1_1_1_1_1_1_1_3">
    <p:bg>
      <p:bgPr>
        <a:solidFill>
          <a:schemeClr val="accent2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2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ubTitle" idx="3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ubTitle" idx="4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ubTitle" idx="5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6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7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8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subTitle" idx="9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subTitle" idx="13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subTitle" idx="14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5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1">
  <p:cSld name="BLANK_1_1_1_1_1_1_1_1_1_1_1_1_1_1_1_2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2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ubTitle" idx="3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subTitle" idx="4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body" idx="5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6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subTitle" idx="7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8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ubTitle" idx="9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subTitle" idx="13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body" idx="14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15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16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subTitle" idx="17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7_1_1_1_1_1_1_1_1_1_1_1_1_1_1_1_1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>
            <a:spLocks noGrp="1"/>
          </p:cNvSpPr>
          <p:nvPr>
            <p:ph type="pic" idx="2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Google Shape;161;p24"/>
          <p:cNvSpPr txBox="1">
            <a:spLocks noGrp="1"/>
          </p:cNvSpPr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subTitle" idx="1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body" idx="3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and Four steps">
  <p:cSld name="CUSTOM_7_1_1_1_1_1_1_1_1_1_1_1_1_1_1_1_1_1_2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2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subTitle" idx="3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subTitle" idx="4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5"/>
          <p:cNvSpPr txBox="1">
            <a:spLocks noGrp="1"/>
          </p:cNvSpPr>
          <p:nvPr>
            <p:ph type="subTitle" idx="5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ubTitle" idx="6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subTitle" idx="7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subTitle" idx="8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subTitle" idx="9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Light">
  <p:cSld name="CUSTOM_7_1_1_1_1_1_1_1_1_1_1_1_1_1_1_1_1_1_1_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188" name="Google Shape;188;p26"/>
          <p:cNvSpPr>
            <a:spLocks noGrp="1"/>
          </p:cNvSpPr>
          <p:nvPr>
            <p:ph type="pic" idx="2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>
            <a:spLocks noGrp="1"/>
          </p:cNvSpPr>
          <p:nvPr>
            <p:ph type="subTitle" idx="3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subTitle" idx="4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">
  <p:cSld name="CUSTOM_7_1_1_1_1_1_1_1_1_1_1_1_1_1_1_1_1_1_1_1_1"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27"/>
          <p:cNvSpPr>
            <a:spLocks noGrp="1"/>
          </p:cNvSpPr>
          <p:nvPr>
            <p:ph type="pic" idx="2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>
            <a:spLocks noGrp="1"/>
          </p:cNvSpPr>
          <p:nvPr>
            <p:ph type="subTitle" idx="3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subTitle" idx="4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modules">
  <p:cSld name="CUSTOM">
    <p:bg>
      <p:bgPr>
        <a:solidFill>
          <a:schemeClr val="l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subTitle" idx="2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body" idx="3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title" idx="4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title" idx="5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title" idx="6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body" idx="7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8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28"/>
          <p:cNvSpPr txBox="1">
            <a:spLocks noGrp="1"/>
          </p:cNvSpPr>
          <p:nvPr>
            <p:ph type="body" idx="9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28"/>
          <p:cNvSpPr txBox="1">
            <a:spLocks noGrp="1"/>
          </p:cNvSpPr>
          <p:nvPr>
            <p:ph type="body" idx="13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28"/>
          <p:cNvSpPr txBox="1">
            <a:spLocks noGrp="1"/>
          </p:cNvSpPr>
          <p:nvPr>
            <p:ph type="body" idx="14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modules">
  <p:cSld name="CUSTOM_1"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subTitle" idx="2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body" idx="3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ubTitle" idx="4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body" idx="5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subTitle" idx="6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body" idx="7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8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body" idx="9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subTitle" idx="13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14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24" name="Google Shape;224;p29"/>
          <p:cNvSpPr txBox="1">
            <a:spLocks noGrp="1"/>
          </p:cNvSpPr>
          <p:nvPr>
            <p:ph type="subTitle" idx="15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modules">
  <p:cSld name="CUSTOM_1_1"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2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title" idx="3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subTitle" idx="4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subTitle" idx="5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ubTitle" idx="6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modules">
  <p:cSld name="CUSTOM_1_1_1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subTitle" idx="2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with image - Alt 1">
  <p:cSld name="CUSTOM_2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>
            <a:spLocks noGrp="1"/>
          </p:cNvSpPr>
          <p:nvPr>
            <p:ph type="pic" idx="2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>
            <a:spLocks noGrp="1"/>
          </p:cNvSpPr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body" idx="1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with image - Alt 2">
  <p:cSld name="CUSTOM_2_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3"/>
          <p:cNvSpPr txBox="1">
            <a:spLocks noGrp="1"/>
          </p:cNvSpPr>
          <p:nvPr>
            <p:ph type="body" idx="2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51" name="Google Shape;251;p33"/>
          <p:cNvSpPr txBox="1">
            <a:spLocks noGrp="1"/>
          </p:cNvSpPr>
          <p:nvPr>
            <p:ph type="subTitle" idx="3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253" name="Google Shape;253;p33"/>
          <p:cNvSpPr>
            <a:spLocks noGrp="1"/>
          </p:cNvSpPr>
          <p:nvPr>
            <p:ph type="pic" idx="4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with image - Alt 3">
  <p:cSld name="CUSTOM_2_1_2">
    <p:bg>
      <p:bgPr>
        <a:solidFill>
          <a:schemeClr val="accen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4"/>
          <p:cNvSpPr txBox="1">
            <a:spLocks noGrp="1"/>
          </p:cNvSpPr>
          <p:nvPr>
            <p:ph type="subTitle" idx="2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34"/>
          <p:cNvSpPr txBox="1">
            <a:spLocks noGrp="1"/>
          </p:cNvSpPr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>
            <a:endParaRPr/>
          </a:p>
        </p:txBody>
      </p:sp>
      <p:sp>
        <p:nvSpPr>
          <p:cNvPr id="259" name="Google Shape;259;p34"/>
          <p:cNvSpPr>
            <a:spLocks noGrp="1"/>
          </p:cNvSpPr>
          <p:nvPr>
            <p:ph type="pic" idx="3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header">
  <p:cSld name="CUSTOM_2_1_2_1_2">
    <p:bg>
      <p:bgPr>
        <a:solidFill>
          <a:schemeClr val="lt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>
            <a:spLocks noGrp="1"/>
          </p:cNvSpPr>
          <p:nvPr>
            <p:ph type="pic" idx="2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35"/>
          <p:cNvSpPr txBox="1">
            <a:spLocks noGrp="1"/>
          </p:cNvSpPr>
          <p:nvPr>
            <p:ph type="subTitle" idx="3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65" name="Google Shape;265;p35"/>
          <p:cNvSpPr txBox="1">
            <a:spLocks noGrp="1"/>
          </p:cNvSpPr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35"/>
          <p:cNvSpPr txBox="1">
            <a:spLocks noGrp="1"/>
          </p:cNvSpPr>
          <p:nvPr>
            <p:ph type="body" idx="4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with image - Alt 5">
  <p:cSld name="CUSTOM_2_1_2_1_1">
    <p:bg>
      <p:bgPr>
        <a:solidFill>
          <a:schemeClr val="accent2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6" descr="The reflective glass facade of a skyscraper. "/>
          <p:cNvPicPr preferRelativeResize="0"/>
          <p:nvPr/>
        </p:nvPicPr>
        <p:blipFill rotWithShape="1">
          <a:blip r:embed="rId2">
            <a:alphaModFix amt="14000"/>
          </a:blip>
          <a:srcRect b="15604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6"/>
          <p:cNvSpPr txBox="1">
            <a:spLocks noGrp="1"/>
          </p:cNvSpPr>
          <p:nvPr>
            <p:ph type="body" idx="2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72" name="Google Shape;272;p36"/>
          <p:cNvSpPr txBox="1">
            <a:spLocks noGrp="1"/>
          </p:cNvSpPr>
          <p:nvPr>
            <p:ph type="subTitle" idx="3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73" name="Google Shape;273;p36"/>
          <p:cNvSpPr txBox="1">
            <a:spLocks noGrp="1"/>
          </p:cNvSpPr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274" name="Google Shape;274;p36"/>
          <p:cNvSpPr>
            <a:spLocks noGrp="1"/>
          </p:cNvSpPr>
          <p:nvPr>
            <p:ph type="pic" idx="4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- Alt 2">
  <p:cSld name="CUSTOM_2_1_1_1">
    <p:bg>
      <p:bgPr>
        <a:solidFill>
          <a:schemeClr val="accent1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7" descr="A modern glass skyscraper. "/>
          <p:cNvPicPr preferRelativeResize="0"/>
          <p:nvPr/>
        </p:nvPicPr>
        <p:blipFill rotWithShape="1">
          <a:blip r:embed="rId2">
            <a:alphaModFix amt="14000"/>
          </a:blip>
          <a:srcRect b="15604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7"/>
          <p:cNvSpPr txBox="1">
            <a:spLocks noGrp="1"/>
          </p:cNvSpPr>
          <p:nvPr>
            <p:ph type="subTitle" idx="2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80" name="Google Shape;280;p37"/>
          <p:cNvSpPr txBox="1">
            <a:spLocks noGrp="1"/>
          </p:cNvSpPr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overview - Six modules">
  <p:cSld name="CUSTOM_3">
    <p:bg>
      <p:bgPr>
        <a:solidFill>
          <a:schemeClr val="lt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5" name="Google Shape;285;p38"/>
          <p:cNvSpPr txBox="1">
            <a:spLocks noGrp="1"/>
          </p:cNvSpPr>
          <p:nvPr>
            <p:ph type="subTitle" idx="1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38"/>
          <p:cNvSpPr txBox="1">
            <a:spLocks noGrp="1"/>
          </p:cNvSpPr>
          <p:nvPr>
            <p:ph type="subTitle" idx="2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87" name="Google Shape;287;p3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p38"/>
          <p:cNvSpPr txBox="1">
            <a:spLocks noGrp="1"/>
          </p:cNvSpPr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38"/>
          <p:cNvSpPr txBox="1">
            <a:spLocks noGrp="1"/>
          </p:cNvSpPr>
          <p:nvPr>
            <p:ph type="subTitle" idx="4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1" name="Google Shape;291;p38"/>
          <p:cNvSpPr txBox="1">
            <a:spLocks noGrp="1"/>
          </p:cNvSpPr>
          <p:nvPr>
            <p:ph type="subTitle" idx="5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2" name="Google Shape;292;p38"/>
          <p:cNvSpPr txBox="1">
            <a:spLocks noGrp="1"/>
          </p:cNvSpPr>
          <p:nvPr>
            <p:ph type="subTitle" idx="6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38"/>
          <p:cNvSpPr txBox="1">
            <a:spLocks noGrp="1"/>
          </p:cNvSpPr>
          <p:nvPr>
            <p:ph type="subTitle" idx="7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4" name="Google Shape;294;p38"/>
          <p:cNvSpPr txBox="1">
            <a:spLocks noGrp="1"/>
          </p:cNvSpPr>
          <p:nvPr>
            <p:ph type="subTitle" idx="8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38"/>
          <p:cNvSpPr txBox="1">
            <a:spLocks noGrp="1"/>
          </p:cNvSpPr>
          <p:nvPr>
            <p:ph type="subTitle" idx="9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6" name="Google Shape;296;p38"/>
          <p:cNvSpPr txBox="1">
            <a:spLocks noGrp="1"/>
          </p:cNvSpPr>
          <p:nvPr>
            <p:ph type="subTitle" idx="13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7" name="Google Shape;297;p38"/>
          <p:cNvSpPr txBox="1">
            <a:spLocks noGrp="1"/>
          </p:cNvSpPr>
          <p:nvPr>
            <p:ph type="subTitle" idx="14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8" name="Google Shape;298;p38"/>
          <p:cNvSpPr txBox="1">
            <a:spLocks noGrp="1"/>
          </p:cNvSpPr>
          <p:nvPr>
            <p:ph type="subTitle" idx="15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38"/>
          <p:cNvSpPr txBox="1">
            <a:spLocks noGrp="1"/>
          </p:cNvSpPr>
          <p:nvPr>
            <p:ph type="subTitle" idx="16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ence - Alt 1">
  <p:cSld name="CUSTOM_4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>
            <a:spLocks noGrp="1"/>
          </p:cNvSpPr>
          <p:nvPr>
            <p:ph type="subTitle" idx="1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02" name="Google Shape;302;p39"/>
          <p:cNvSpPr txBox="1">
            <a:spLocks noGrp="1"/>
          </p:cNvSpPr>
          <p:nvPr>
            <p:ph type="body" idx="2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03" name="Google Shape;303;p39"/>
          <p:cNvSpPr>
            <a:spLocks noGrp="1"/>
          </p:cNvSpPr>
          <p:nvPr>
            <p:ph type="pic" idx="3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39"/>
          <p:cNvSpPr txBox="1">
            <a:spLocks noGrp="1"/>
          </p:cNvSpPr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305" name="Google Shape;305;p39"/>
          <p:cNvSpPr txBox="1">
            <a:spLocks noGrp="1"/>
          </p:cNvSpPr>
          <p:nvPr>
            <p:ph type="subTitle" idx="4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9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>
            <a:spLocks noGrp="1"/>
          </p:cNvSpPr>
          <p:nvPr>
            <p:ph type="subTitle" idx="5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39"/>
          <p:cNvSpPr txBox="1">
            <a:spLocks noGrp="1"/>
          </p:cNvSpPr>
          <p:nvPr>
            <p:ph type="subTitle" idx="6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subTitle" idx="7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10" name="Google Shape;310;p39"/>
          <p:cNvSpPr txBox="1">
            <a:spLocks noGrp="1"/>
          </p:cNvSpPr>
          <p:nvPr>
            <p:ph type="body" idx="8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subTitle" idx="9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3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13" name="Google Shape;313;p39"/>
          <p:cNvSpPr txBox="1">
            <a:spLocks noGrp="1"/>
          </p:cNvSpPr>
          <p:nvPr>
            <p:ph type="body" idx="14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ence - Alt 2">
  <p:cSld name="CUSTOM_4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>
            <a:spLocks noGrp="1"/>
          </p:cNvSpPr>
          <p:nvPr>
            <p:ph type="pic" idx="2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>
            <a:spLocks noGrp="1"/>
          </p:cNvSpPr>
          <p:nvPr>
            <p:ph type="subTitle" idx="1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- Four members">
  <p:cSld name="CUSTOM_5"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>
            <a:spLocks noGrp="1"/>
          </p:cNvSpPr>
          <p:nvPr>
            <p:ph type="body" idx="1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20" name="Google Shape;320;p41"/>
          <p:cNvSpPr txBox="1">
            <a:spLocks noGrp="1"/>
          </p:cNvSpPr>
          <p:nvPr>
            <p:ph type="body" idx="2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21" name="Google Shape;321;p41"/>
          <p:cNvSpPr txBox="1">
            <a:spLocks noGrp="1"/>
          </p:cNvSpPr>
          <p:nvPr>
            <p:ph type="body" idx="3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22" name="Google Shape;322;p41"/>
          <p:cNvSpPr txBox="1">
            <a:spLocks noGrp="1"/>
          </p:cNvSpPr>
          <p:nvPr>
            <p:ph type="body" idx="4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857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23" name="Google Shape;323;p41"/>
          <p:cNvSpPr>
            <a:spLocks noGrp="1"/>
          </p:cNvSpPr>
          <p:nvPr>
            <p:ph type="pic" idx="5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>
            <a:spLocks noGrp="1"/>
          </p:cNvSpPr>
          <p:nvPr>
            <p:ph type="pic" idx="6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>
            <a:spLocks noGrp="1"/>
          </p:cNvSpPr>
          <p:nvPr>
            <p:ph type="pic" idx="7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9" name="Google Shape;329;p41"/>
          <p:cNvSpPr>
            <a:spLocks noGrp="1"/>
          </p:cNvSpPr>
          <p:nvPr>
            <p:ph type="pic" idx="8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>
            <a:spLocks noGrp="1"/>
          </p:cNvSpPr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ubTitle" idx="9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subTitle" idx="13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subTitle" idx="14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5" name="Google Shape;335;p41"/>
          <p:cNvSpPr txBox="1">
            <a:spLocks noGrp="1"/>
          </p:cNvSpPr>
          <p:nvPr>
            <p:ph type="subTitle" idx="15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36" name="Google Shape;336;p41"/>
          <p:cNvSpPr txBox="1">
            <a:spLocks noGrp="1"/>
          </p:cNvSpPr>
          <p:nvPr>
            <p:ph type="subTitle" idx="16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41"/>
          <p:cNvSpPr txBox="1">
            <a:spLocks noGrp="1"/>
          </p:cNvSpPr>
          <p:nvPr>
            <p:ph type="subTitle" idx="17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8" name="Google Shape;338;p41"/>
          <p:cNvSpPr txBox="1">
            <a:spLocks noGrp="1"/>
          </p:cNvSpPr>
          <p:nvPr>
            <p:ph type="subTitle" idx="18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39" name="Google Shape;339;p41"/>
          <p:cNvSpPr txBox="1">
            <a:spLocks noGrp="1"/>
          </p:cNvSpPr>
          <p:nvPr>
            <p:ph type="subTitle" idx="19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40" name="Google Shape;340;p41"/>
          <p:cNvSpPr txBox="1">
            <a:spLocks noGrp="1"/>
          </p:cNvSpPr>
          <p:nvPr>
            <p:ph type="subTitle" idx="20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1" name="Google Shape;341;p41"/>
          <p:cNvSpPr txBox="1">
            <a:spLocks noGrp="1"/>
          </p:cNvSpPr>
          <p:nvPr>
            <p:ph type="subTitle" idx="21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42" name="Google Shape;342;p41"/>
          <p:cNvSpPr txBox="1">
            <a:spLocks noGrp="1"/>
          </p:cNvSpPr>
          <p:nvPr>
            <p:ph type="subTitle" idx="22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41"/>
          <p:cNvSpPr txBox="1">
            <a:spLocks noGrp="1"/>
          </p:cNvSpPr>
          <p:nvPr>
            <p:ph type="subTitle" idx="23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41"/>
          <p:cNvSpPr txBox="1">
            <a:spLocks noGrp="1"/>
          </p:cNvSpPr>
          <p:nvPr>
            <p:ph type="subTitle" idx="24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- Eight members">
  <p:cSld name="CUSTOM_6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>
            <a:spLocks noGrp="1"/>
          </p:cNvSpPr>
          <p:nvPr>
            <p:ph type="subTitle" idx="1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7" name="Google Shape;347;p42"/>
          <p:cNvSpPr txBox="1">
            <a:spLocks noGrp="1"/>
          </p:cNvSpPr>
          <p:nvPr>
            <p:ph type="subTitle" idx="2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48" name="Google Shape;348;p42"/>
          <p:cNvSpPr txBox="1">
            <a:spLocks noGrp="1"/>
          </p:cNvSpPr>
          <p:nvPr>
            <p:ph type="subTitle" idx="3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49" name="Google Shape;349;p42"/>
          <p:cNvSpPr>
            <a:spLocks noGrp="1"/>
          </p:cNvSpPr>
          <p:nvPr>
            <p:ph type="pic" idx="4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>
            <a:spLocks noGrp="1"/>
          </p:cNvSpPr>
          <p:nvPr>
            <p:ph type="subTitle" idx="5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1" name="Google Shape;351;p42"/>
          <p:cNvSpPr txBox="1">
            <a:spLocks noGrp="1"/>
          </p:cNvSpPr>
          <p:nvPr>
            <p:ph type="subTitle" idx="6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52" name="Google Shape;352;p42"/>
          <p:cNvSpPr txBox="1">
            <a:spLocks noGrp="1"/>
          </p:cNvSpPr>
          <p:nvPr>
            <p:ph type="subTitle" idx="7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53" name="Google Shape;353;p42"/>
          <p:cNvSpPr>
            <a:spLocks noGrp="1"/>
          </p:cNvSpPr>
          <p:nvPr>
            <p:ph type="pic" idx="8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>
            <a:spLocks noGrp="1"/>
          </p:cNvSpPr>
          <p:nvPr>
            <p:ph type="subTitle" idx="9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5" name="Google Shape;355;p42"/>
          <p:cNvSpPr txBox="1">
            <a:spLocks noGrp="1"/>
          </p:cNvSpPr>
          <p:nvPr>
            <p:ph type="subTitle" idx="13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56" name="Google Shape;356;p42"/>
          <p:cNvSpPr txBox="1">
            <a:spLocks noGrp="1"/>
          </p:cNvSpPr>
          <p:nvPr>
            <p:ph type="subTitle" idx="14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57" name="Google Shape;357;p42"/>
          <p:cNvSpPr>
            <a:spLocks noGrp="1"/>
          </p:cNvSpPr>
          <p:nvPr>
            <p:ph type="pic" idx="15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>
            <a:spLocks noGrp="1"/>
          </p:cNvSpPr>
          <p:nvPr>
            <p:ph type="subTitle" idx="16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9" name="Google Shape;359;p42"/>
          <p:cNvSpPr txBox="1">
            <a:spLocks noGrp="1"/>
          </p:cNvSpPr>
          <p:nvPr>
            <p:ph type="subTitle" idx="17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60" name="Google Shape;360;p42"/>
          <p:cNvSpPr txBox="1">
            <a:spLocks noGrp="1"/>
          </p:cNvSpPr>
          <p:nvPr>
            <p:ph type="subTitle" idx="18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61" name="Google Shape;361;p42"/>
          <p:cNvSpPr>
            <a:spLocks noGrp="1"/>
          </p:cNvSpPr>
          <p:nvPr>
            <p:ph type="pic" idx="19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>
            <a:spLocks noGrp="1"/>
          </p:cNvSpPr>
          <p:nvPr>
            <p:ph type="subTitle" idx="20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3" name="Google Shape;363;p42"/>
          <p:cNvSpPr txBox="1">
            <a:spLocks noGrp="1"/>
          </p:cNvSpPr>
          <p:nvPr>
            <p:ph type="subTitle" idx="21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64" name="Google Shape;364;p42"/>
          <p:cNvSpPr txBox="1">
            <a:spLocks noGrp="1"/>
          </p:cNvSpPr>
          <p:nvPr>
            <p:ph type="subTitle" idx="22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65" name="Google Shape;365;p42"/>
          <p:cNvSpPr>
            <a:spLocks noGrp="1"/>
          </p:cNvSpPr>
          <p:nvPr>
            <p:ph type="pic" idx="23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>
            <a:spLocks noGrp="1"/>
          </p:cNvSpPr>
          <p:nvPr>
            <p:ph type="subTitle" idx="24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7" name="Google Shape;367;p42"/>
          <p:cNvSpPr txBox="1">
            <a:spLocks noGrp="1"/>
          </p:cNvSpPr>
          <p:nvPr>
            <p:ph type="subTitle" idx="25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68" name="Google Shape;368;p42"/>
          <p:cNvSpPr txBox="1">
            <a:spLocks noGrp="1"/>
          </p:cNvSpPr>
          <p:nvPr>
            <p:ph type="subTitle" idx="26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69" name="Google Shape;369;p42"/>
          <p:cNvSpPr>
            <a:spLocks noGrp="1"/>
          </p:cNvSpPr>
          <p:nvPr>
            <p:ph type="pic" idx="27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>
            <a:spLocks noGrp="1"/>
          </p:cNvSpPr>
          <p:nvPr>
            <p:ph type="subTitle" idx="28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1" name="Google Shape;371;p42"/>
          <p:cNvSpPr txBox="1">
            <a:spLocks noGrp="1"/>
          </p:cNvSpPr>
          <p:nvPr>
            <p:ph type="subTitle" idx="29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72" name="Google Shape;372;p42"/>
          <p:cNvSpPr txBox="1">
            <a:spLocks noGrp="1"/>
          </p:cNvSpPr>
          <p:nvPr>
            <p:ph type="subTitle" idx="30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73" name="Google Shape;373;p42"/>
          <p:cNvSpPr>
            <a:spLocks noGrp="1"/>
          </p:cNvSpPr>
          <p:nvPr>
            <p:ph type="pic" idx="31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>
            <a:spLocks noGrp="1"/>
          </p:cNvSpPr>
          <p:nvPr>
            <p:ph type="subTitle" idx="32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5" name="Google Shape;375;p42"/>
          <p:cNvSpPr txBox="1">
            <a:spLocks noGrp="1"/>
          </p:cNvSpPr>
          <p:nvPr>
            <p:ph type="subTitle" idx="33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76" name="Google Shape;376;p42"/>
          <p:cNvSpPr txBox="1">
            <a:spLocks noGrp="1"/>
          </p:cNvSpPr>
          <p:nvPr>
            <p:ph type="subTitle" idx="34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77" name="Google Shape;377;p42"/>
          <p:cNvSpPr>
            <a:spLocks noGrp="1"/>
          </p:cNvSpPr>
          <p:nvPr>
            <p:ph type="pic" idx="35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>
            <a:spLocks noGrp="1"/>
          </p:cNvSpPr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379" name="Google Shape;379;p4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>
            <a:spLocks noGrp="1"/>
          </p:cNvSpPr>
          <p:nvPr>
            <p:ph type="subTitle" idx="36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otlight - Alt 2">
  <p:cSld name="CUSTOM_7_1">
    <p:bg>
      <p:bgPr>
        <a:solidFill>
          <a:schemeClr val="accent2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>
            <a:spLocks noGrp="1"/>
          </p:cNvSpPr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384" name="Google Shape;384;p43"/>
          <p:cNvSpPr>
            <a:spLocks noGrp="1"/>
          </p:cNvSpPr>
          <p:nvPr>
            <p:ph type="pic" idx="2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>
            <a:spLocks noGrp="1"/>
          </p:cNvSpPr>
          <p:nvPr>
            <p:ph type="body" idx="1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86" name="Google Shape;386;p4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>
            <a:spLocks noGrp="1"/>
          </p:cNvSpPr>
          <p:nvPr>
            <p:ph type="body" idx="3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>
            <a:endParaRPr/>
          </a:p>
        </p:txBody>
      </p:sp>
      <p:sp>
        <p:nvSpPr>
          <p:cNvPr id="388" name="Google Shape;388;p43"/>
          <p:cNvSpPr txBox="1">
            <a:spLocks noGrp="1"/>
          </p:cNvSpPr>
          <p:nvPr>
            <p:ph type="subTitle" idx="4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389" name="Google Shape;389;p43"/>
          <p:cNvSpPr txBox="1">
            <a:spLocks noGrp="1"/>
          </p:cNvSpPr>
          <p:nvPr>
            <p:ph type="subTitle" idx="5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90" name="Google Shape;390;p43"/>
          <p:cNvSpPr txBox="1">
            <a:spLocks noGrp="1"/>
          </p:cNvSpPr>
          <p:nvPr>
            <p:ph type="subTitle" idx="6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r chart background">
  <p:cSld name="CUSTOM_8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2" name="Google Shape;402;p4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44"/>
          <p:cNvSpPr txBox="1">
            <a:spLocks noGrp="1"/>
          </p:cNvSpPr>
          <p:nvPr>
            <p:ph type="subTitle" idx="2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">
  <p:cSld name="CUSTOM_8_1">
    <p:bg>
      <p:bgPr>
        <a:solidFill>
          <a:schemeClr val="accent2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>
            <a:spLocks noGrp="1"/>
          </p:cNvSpPr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8" name="Google Shape;408;p45"/>
          <p:cNvSpPr txBox="1">
            <a:spLocks noGrp="1"/>
          </p:cNvSpPr>
          <p:nvPr>
            <p:ph type="subTitle" idx="1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11" name="Google Shape;411;p4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0" name="Google Shape;420;p4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5" name="Google Shape;425;p5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0" name="Google Shape;430;p5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1" name="Google Shape;431;p5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57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1" name="Google Shape;441;p57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2" name="Google Shape;442;p57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3" name="Google Shape;443;p57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4" name="Google Shape;444;p57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5" name="Google Shape;445;p57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49" name="Google Shape;449;p58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52" name="Google Shape;452;p59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3" name="Google Shape;453;p59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4" name="Google Shape;454;p59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5" name="Google Shape;455;p59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8" name="Google Shape;458;p60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9" name="Google Shape;459;p6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0" name="Google Shape;460;p60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1" name="Google Shape;461;p60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2" name="Google Shape;462;p60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3" name="Google Shape;463;p60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6" name="Google Shape;466;p61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7" name="Google Shape;467;p61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8" name="Google Shape;468;p61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9" name="Google Shape;469;p61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0" name="Google Shape;470;p61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1" name="Google Shape;471;p61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2" name="Google Shape;472;p61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3" name="Google Shape;473;p61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62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9" name="Google Shape;479;p63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2" name="Google Shape;482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63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84" name="Google Shape;484;p63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7" name="Google Shape;487;p64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90" name="Google Shape;490;p64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92" name="Google Shape;492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64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94" name="Google Shape;494;p64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95" name="Google Shape;495;p64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66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67" descr="A close-up of a modern glass structure. "/>
          <p:cNvPicPr preferRelativeResize="0"/>
          <p:nvPr/>
        </p:nvPicPr>
        <p:blipFill rotWithShape="1">
          <a:blip r:embed="rId3">
            <a:alphaModFix/>
          </a:blip>
          <a:srcRect l="21736" r="19116" b="79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>
            <a:spLocks noGrp="1"/>
          </p:cNvSpPr>
          <p:nvPr>
            <p:ph type="title"/>
          </p:nvPr>
        </p:nvSpPr>
        <p:spPr>
          <a:xfrm>
            <a:off x="583500" y="327325"/>
            <a:ext cx="3562500" cy="16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Cybersecurity Risk Assessment and Mitigation Strategy:</a:t>
            </a:r>
            <a:endParaRPr sz="3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Charity Project of Henrietta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515" name="Google Shape;515;p67"/>
          <p:cNvSpPr txBox="1">
            <a:spLocks noGrp="1"/>
          </p:cNvSpPr>
          <p:nvPr>
            <p:ph type="subTitle" idx="1"/>
          </p:nvPr>
        </p:nvSpPr>
        <p:spPr>
          <a:xfrm>
            <a:off x="399750" y="3149108"/>
            <a:ext cx="3860100" cy="3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“RiskArmor keeps your business strong, we guard your data all day long!” </a:t>
            </a:r>
            <a:endParaRPr/>
          </a:p>
        </p:txBody>
      </p:sp>
      <p:sp>
        <p:nvSpPr>
          <p:cNvPr id="516" name="Google Shape;516;p67"/>
          <p:cNvSpPr txBox="1">
            <a:spLocks noGrp="1"/>
          </p:cNvSpPr>
          <p:nvPr>
            <p:ph type="body" idx="3"/>
          </p:nvPr>
        </p:nvSpPr>
        <p:spPr>
          <a:xfrm>
            <a:off x="583500" y="4136048"/>
            <a:ext cx="3492600" cy="51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Roberto Reade and Ben Sippel</a:t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September 24, 2025</a:t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517" name="Google Shape;51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250" y="-8750"/>
            <a:ext cx="4692950" cy="51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8"/>
          <p:cNvSpPr/>
          <p:nvPr/>
        </p:nvSpPr>
        <p:spPr>
          <a:xfrm>
            <a:off x="6857075" y="1801500"/>
            <a:ext cx="2294400" cy="3342000"/>
          </a:xfrm>
          <a:prstGeom prst="roundRect">
            <a:avLst>
              <a:gd name="adj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3" name="Google Shape;523;p68"/>
          <p:cNvSpPr/>
          <p:nvPr/>
        </p:nvSpPr>
        <p:spPr>
          <a:xfrm>
            <a:off x="4562625" y="1801500"/>
            <a:ext cx="2294400" cy="3342000"/>
          </a:xfrm>
          <a:prstGeom prst="roundRect">
            <a:avLst>
              <a:gd name="adj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4" name="Google Shape;524;p68"/>
          <p:cNvSpPr/>
          <p:nvPr/>
        </p:nvSpPr>
        <p:spPr>
          <a:xfrm>
            <a:off x="2294400" y="1801500"/>
            <a:ext cx="2294400" cy="3342000"/>
          </a:xfrm>
          <a:prstGeom prst="roundRect">
            <a:avLst>
              <a:gd name="adj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5" name="Google Shape;525;p68"/>
          <p:cNvSpPr/>
          <p:nvPr/>
        </p:nvSpPr>
        <p:spPr>
          <a:xfrm>
            <a:off x="0" y="1801500"/>
            <a:ext cx="2294400" cy="3342000"/>
          </a:xfrm>
          <a:prstGeom prst="roundRect">
            <a:avLst>
              <a:gd name="adj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6" name="Google Shape;526;p68"/>
          <p:cNvSpPr txBox="1">
            <a:spLocks noGrp="1"/>
          </p:cNvSpPr>
          <p:nvPr>
            <p:ph type="title"/>
          </p:nvPr>
        </p:nvSpPr>
        <p:spPr>
          <a:xfrm>
            <a:off x="361975" y="962092"/>
            <a:ext cx="57186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 i="1"/>
          </a:p>
        </p:txBody>
      </p:sp>
      <p:sp>
        <p:nvSpPr>
          <p:cNvPr id="527" name="Google Shape;527;p68"/>
          <p:cNvSpPr txBox="1">
            <a:spLocks noGrp="1"/>
          </p:cNvSpPr>
          <p:nvPr>
            <p:ph type="subTitle" idx="19"/>
          </p:nvPr>
        </p:nvSpPr>
        <p:spPr>
          <a:xfrm>
            <a:off x="5195400" y="4189109"/>
            <a:ext cx="15879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 Sippel</a:t>
            </a:r>
            <a:endParaRPr/>
          </a:p>
        </p:txBody>
      </p:sp>
      <p:sp>
        <p:nvSpPr>
          <p:cNvPr id="528" name="Google Shape;528;p68"/>
          <p:cNvSpPr txBox="1">
            <a:spLocks noGrp="1"/>
          </p:cNvSpPr>
          <p:nvPr>
            <p:ph type="subTitle" idx="22"/>
          </p:nvPr>
        </p:nvSpPr>
        <p:spPr>
          <a:xfrm>
            <a:off x="2360688" y="4191609"/>
            <a:ext cx="15879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Roberto Reade</a:t>
            </a:r>
            <a:endParaRPr/>
          </a:p>
        </p:txBody>
      </p:sp>
      <p:pic>
        <p:nvPicPr>
          <p:cNvPr id="529" name="Google Shape;52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0907" y="2268600"/>
            <a:ext cx="1007494" cy="176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68"/>
          <p:cNvPicPr preferRelativeResize="0"/>
          <p:nvPr/>
        </p:nvPicPr>
        <p:blipFill rotWithShape="1">
          <a:blip r:embed="rId4">
            <a:alphaModFix/>
          </a:blip>
          <a:srcRect l="9765" r="7685"/>
          <a:stretch/>
        </p:blipFill>
        <p:spPr>
          <a:xfrm>
            <a:off x="5473018" y="2266088"/>
            <a:ext cx="1032670" cy="17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9"/>
          <p:cNvSpPr txBox="1">
            <a:spLocks noGrp="1"/>
          </p:cNvSpPr>
          <p:nvPr>
            <p:ph type="subTitle" idx="6"/>
          </p:nvPr>
        </p:nvSpPr>
        <p:spPr>
          <a:xfrm>
            <a:off x="4734300" y="1831297"/>
            <a:ext cx="4409700" cy="54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Reliance on aging, inconsistent technology</a:t>
            </a:r>
            <a:endParaRPr sz="2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36" name="Google Shape;536;p69"/>
          <p:cNvSpPr txBox="1">
            <a:spLocks noGrp="1"/>
          </p:cNvSpPr>
          <p:nvPr>
            <p:ph type="subTitle" idx="5"/>
          </p:nvPr>
        </p:nvSpPr>
        <p:spPr>
          <a:xfrm>
            <a:off x="4734300" y="640600"/>
            <a:ext cx="4409700" cy="5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Non-profit serving Western New York communities</a:t>
            </a:r>
            <a:endParaRPr sz="2000"/>
          </a:p>
        </p:txBody>
      </p:sp>
      <p:sp>
        <p:nvSpPr>
          <p:cNvPr id="537" name="Google Shape;537;p69"/>
          <p:cNvSpPr txBox="1">
            <a:spLocks noGrp="1"/>
          </p:cNvSpPr>
          <p:nvPr>
            <p:ph type="subTitle" idx="4294967295"/>
          </p:nvPr>
        </p:nvSpPr>
        <p:spPr>
          <a:xfrm>
            <a:off x="4663825" y="39663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No formal IT or security governance</a:t>
            </a:r>
            <a:endParaRPr sz="2000"/>
          </a:p>
        </p:txBody>
      </p:sp>
      <p:sp>
        <p:nvSpPr>
          <p:cNvPr id="538" name="Google Shape;538;p69"/>
          <p:cNvSpPr txBox="1">
            <a:spLocks noGrp="1"/>
          </p:cNvSpPr>
          <p:nvPr>
            <p:ph type="subTitle" idx="4294967295"/>
          </p:nvPr>
        </p:nvSpPr>
        <p:spPr>
          <a:xfrm>
            <a:off x="4663825" y="284009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Handles sensitive and HIPAA-relevant data</a:t>
            </a:r>
            <a:endParaRPr sz="2000"/>
          </a:p>
        </p:txBody>
      </p:sp>
      <p:sp>
        <p:nvSpPr>
          <p:cNvPr id="539" name="Google Shape;539;p69"/>
          <p:cNvSpPr txBox="1">
            <a:spLocks noGrp="1"/>
          </p:cNvSpPr>
          <p:nvPr>
            <p:ph type="title" idx="4294967295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</a:rPr>
              <a:t>The Charity Project of Henrietta</a:t>
            </a:r>
            <a:endParaRPr sz="4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0"/>
          <p:cNvSpPr txBox="1">
            <a:spLocks noGrp="1"/>
          </p:cNvSpPr>
          <p:nvPr>
            <p:ph type="body" idx="2"/>
          </p:nvPr>
        </p:nvSpPr>
        <p:spPr>
          <a:xfrm>
            <a:off x="7130875" y="2135400"/>
            <a:ext cx="1917900" cy="280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Develop a phased plan that sequences risk reduction based on severity, dependency, and organizational capacity</a:t>
            </a:r>
            <a:endParaRPr sz="1100"/>
          </a:p>
          <a:p>
            <a:pPr marL="4572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Prioritize foundational controls first, followed by structural improvements and governance</a:t>
            </a:r>
            <a:endParaRPr sz="1100"/>
          </a:p>
        </p:txBody>
      </p:sp>
      <p:sp>
        <p:nvSpPr>
          <p:cNvPr id="545" name="Google Shape;545;p70"/>
          <p:cNvSpPr txBox="1">
            <a:spLocks noGrp="1"/>
          </p:cNvSpPr>
          <p:nvPr>
            <p:ph type="subTitle" idx="6"/>
          </p:nvPr>
        </p:nvSpPr>
        <p:spPr>
          <a:xfrm>
            <a:off x="4941569" y="1219327"/>
            <a:ext cx="16458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Quantify business impact</a:t>
            </a:r>
            <a:endParaRPr sz="1400" dirty="0"/>
          </a:p>
        </p:txBody>
      </p:sp>
      <p:sp>
        <p:nvSpPr>
          <p:cNvPr id="546" name="Google Shape;546;p70"/>
          <p:cNvSpPr txBox="1">
            <a:spLocks noGrp="1"/>
          </p:cNvSpPr>
          <p:nvPr>
            <p:ph type="subTitle" idx="3"/>
          </p:nvPr>
        </p:nvSpPr>
        <p:spPr>
          <a:xfrm>
            <a:off x="7256100" y="1501800"/>
            <a:ext cx="19869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Produce a realistic 3-year improvement roadmap</a:t>
            </a:r>
            <a:endParaRPr sz="1400"/>
          </a:p>
        </p:txBody>
      </p:sp>
      <p:sp>
        <p:nvSpPr>
          <p:cNvPr id="547" name="Google Shape;547;p70"/>
          <p:cNvSpPr txBox="1">
            <a:spLocks noGrp="1"/>
          </p:cNvSpPr>
          <p:nvPr>
            <p:ph type="body" idx="5"/>
          </p:nvPr>
        </p:nvSpPr>
        <p:spPr>
          <a:xfrm>
            <a:off x="4892150" y="2135400"/>
            <a:ext cx="1861500" cy="280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Translate technical risks into operational, financial, and regulatory consequences </a:t>
            </a:r>
            <a:endParaRPr sz="1100"/>
          </a:p>
          <a:p>
            <a:pPr marL="4572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Estimate downtime, data loss, compliance exposure, and recovery requirements</a:t>
            </a:r>
            <a:endParaRPr sz="1100"/>
          </a:p>
        </p:txBody>
      </p:sp>
      <p:sp>
        <p:nvSpPr>
          <p:cNvPr id="548" name="Google Shape;548;p70"/>
          <p:cNvSpPr txBox="1">
            <a:spLocks noGrp="1"/>
          </p:cNvSpPr>
          <p:nvPr>
            <p:ph type="body" idx="8"/>
          </p:nvPr>
        </p:nvSpPr>
        <p:spPr>
          <a:xfrm>
            <a:off x="2607050" y="2135400"/>
            <a:ext cx="1917900" cy="280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Identify threat/vulnerability pairs across systems, people and processes</a:t>
            </a:r>
            <a:endParaRPr sz="1100"/>
          </a:p>
          <a:p>
            <a:pPr marL="4572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Rank risks using structured methods to determine mission-threatening exposures</a:t>
            </a:r>
            <a:endParaRPr sz="1100"/>
          </a:p>
        </p:txBody>
      </p:sp>
      <p:sp>
        <p:nvSpPr>
          <p:cNvPr id="549" name="Google Shape;549;p70"/>
          <p:cNvSpPr txBox="1">
            <a:spLocks noGrp="1"/>
          </p:cNvSpPr>
          <p:nvPr>
            <p:ph type="subTitle" idx="9"/>
          </p:nvPr>
        </p:nvSpPr>
        <p:spPr>
          <a:xfrm>
            <a:off x="2627038" y="1349383"/>
            <a:ext cx="16458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Identify and prioritize risks</a:t>
            </a:r>
            <a:endParaRPr sz="1400"/>
          </a:p>
        </p:txBody>
      </p:sp>
      <p:sp>
        <p:nvSpPr>
          <p:cNvPr id="550" name="Google Shape;550;p70"/>
          <p:cNvSpPr txBox="1">
            <a:spLocks noGrp="1"/>
          </p:cNvSpPr>
          <p:nvPr>
            <p:ph type="body" idx="14"/>
          </p:nvPr>
        </p:nvSpPr>
        <p:spPr>
          <a:xfrm>
            <a:off x="361975" y="2135325"/>
            <a:ext cx="1861500" cy="264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Evaluate current technology and security practices against established maturity models</a:t>
            </a:r>
            <a:endParaRPr sz="1100"/>
          </a:p>
          <a:p>
            <a:pPr marL="4572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Establishes baseline understanding of how reliable CPH’s IT operations currently are</a:t>
            </a:r>
            <a:endParaRPr sz="1100"/>
          </a:p>
        </p:txBody>
      </p:sp>
      <p:sp>
        <p:nvSpPr>
          <p:cNvPr id="551" name="Google Shape;551;p70"/>
          <p:cNvSpPr txBox="1">
            <a:spLocks noGrp="1"/>
          </p:cNvSpPr>
          <p:nvPr>
            <p:ph type="subTitle" idx="15"/>
          </p:nvPr>
        </p:nvSpPr>
        <p:spPr>
          <a:xfrm>
            <a:off x="361975" y="1349358"/>
            <a:ext cx="16458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Assess IT and security maturity</a:t>
            </a:r>
            <a:endParaRPr sz="1400"/>
          </a:p>
        </p:txBody>
      </p:sp>
      <p:sp>
        <p:nvSpPr>
          <p:cNvPr id="552" name="Google Shape;552;p70"/>
          <p:cNvSpPr txBox="1">
            <a:spLocks noGrp="1"/>
          </p:cNvSpPr>
          <p:nvPr>
            <p:ph type="title"/>
          </p:nvPr>
        </p:nvSpPr>
        <p:spPr>
          <a:xfrm>
            <a:off x="361975" y="369307"/>
            <a:ext cx="63309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Engagement Goals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1"/>
          <p:cNvSpPr txBox="1">
            <a:spLocks noGrp="1"/>
          </p:cNvSpPr>
          <p:nvPr>
            <p:ph type="subTitle" idx="6"/>
          </p:nvPr>
        </p:nvSpPr>
        <p:spPr>
          <a:xfrm>
            <a:off x="5785175" y="3258108"/>
            <a:ext cx="29916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Ad-hoc Maturity Level</a:t>
            </a:r>
            <a:endParaRPr dirty="0"/>
          </a:p>
        </p:txBody>
      </p:sp>
      <p:sp>
        <p:nvSpPr>
          <p:cNvPr id="558" name="Google Shape;558;p71"/>
          <p:cNvSpPr txBox="1">
            <a:spLocks noGrp="1"/>
          </p:cNvSpPr>
          <p:nvPr>
            <p:ph type="subTitle" idx="1"/>
          </p:nvPr>
        </p:nvSpPr>
        <p:spPr>
          <a:xfrm>
            <a:off x="723300" y="1812750"/>
            <a:ext cx="32130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Reactive, undocumented controls</a:t>
            </a:r>
            <a:endParaRPr sz="1400"/>
          </a:p>
        </p:txBody>
      </p:sp>
      <p:sp>
        <p:nvSpPr>
          <p:cNvPr id="559" name="Google Shape;559;p71"/>
          <p:cNvSpPr txBox="1">
            <a:spLocks noGrp="1"/>
          </p:cNvSpPr>
          <p:nvPr>
            <p:ph type="body" idx="2"/>
          </p:nvPr>
        </p:nvSpPr>
        <p:spPr>
          <a:xfrm>
            <a:off x="723300" y="2158525"/>
            <a:ext cx="32130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Security measures lack written standards, making them unreliable and difficult to sustain</a:t>
            </a:r>
            <a:endParaRPr sz="1100"/>
          </a:p>
        </p:txBody>
      </p:sp>
      <p:sp>
        <p:nvSpPr>
          <p:cNvPr id="560" name="Google Shape;560;p71"/>
          <p:cNvSpPr txBox="1">
            <a:spLocks noGrp="1"/>
          </p:cNvSpPr>
          <p:nvPr>
            <p:ph type="title"/>
          </p:nvPr>
        </p:nvSpPr>
        <p:spPr>
          <a:xfrm>
            <a:off x="200800" y="369300"/>
            <a:ext cx="52701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Current Security Posture</a:t>
            </a:r>
            <a:endParaRPr sz="3600"/>
          </a:p>
        </p:txBody>
      </p:sp>
      <p:sp>
        <p:nvSpPr>
          <p:cNvPr id="561" name="Google Shape;561;p71"/>
          <p:cNvSpPr txBox="1">
            <a:spLocks noGrp="1"/>
          </p:cNvSpPr>
          <p:nvPr>
            <p:ph type="subTitle" idx="7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No baseline security hygiene</a:t>
            </a:r>
            <a:endParaRPr sz="1400"/>
          </a:p>
        </p:txBody>
      </p:sp>
      <p:sp>
        <p:nvSpPr>
          <p:cNvPr id="562" name="Google Shape;562;p71"/>
          <p:cNvSpPr txBox="1">
            <a:spLocks noGrp="1"/>
          </p:cNvSpPr>
          <p:nvPr>
            <p:ph type="body" idx="8"/>
          </p:nvPr>
        </p:nvSpPr>
        <p:spPr>
          <a:xfrm>
            <a:off x="723300" y="4211005"/>
            <a:ext cx="32130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Fundamental protections such as consistent patching, encryption, and standardized configuration are missing across systems</a:t>
            </a:r>
            <a:endParaRPr sz="1100"/>
          </a:p>
        </p:txBody>
      </p:sp>
      <p:sp>
        <p:nvSpPr>
          <p:cNvPr id="563" name="Google Shape;563;p71"/>
          <p:cNvSpPr txBox="1">
            <a:spLocks noGrp="1"/>
          </p:cNvSpPr>
          <p:nvPr>
            <p:ph type="subTitle" idx="9"/>
          </p:nvPr>
        </p:nvSpPr>
        <p:spPr>
          <a:xfrm>
            <a:off x="723300" y="2773826"/>
            <a:ext cx="3792000" cy="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Manual workarounds instead of processes</a:t>
            </a:r>
            <a:endParaRPr sz="1400"/>
          </a:p>
        </p:txBody>
      </p:sp>
      <p:sp>
        <p:nvSpPr>
          <p:cNvPr id="564" name="Google Shape;564;p71"/>
          <p:cNvSpPr txBox="1">
            <a:spLocks noGrp="1"/>
          </p:cNvSpPr>
          <p:nvPr>
            <p:ph type="body" idx="13"/>
          </p:nvPr>
        </p:nvSpPr>
        <p:spPr>
          <a:xfrm>
            <a:off x="742900" y="3135628"/>
            <a:ext cx="32130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Day-to-day operations depend on improvised fixes rather than defined procedures, increasing operational fragility</a:t>
            </a:r>
            <a:endParaRPr sz="1100"/>
          </a:p>
        </p:txBody>
      </p:sp>
      <p:sp>
        <p:nvSpPr>
          <p:cNvPr id="565" name="Google Shape;565;p71"/>
          <p:cNvSpPr txBox="1">
            <a:spLocks noGrp="1"/>
          </p:cNvSpPr>
          <p:nvPr>
            <p:ph type="body" idx="14"/>
          </p:nvPr>
        </p:nvSpPr>
        <p:spPr>
          <a:xfrm>
            <a:off x="5785175" y="3910855"/>
            <a:ext cx="2991600" cy="46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Security activities are performed inconsistently and lack formal, repeatable procedures</a:t>
            </a:r>
            <a:endParaRPr sz="1100" dirty="0"/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endParaRPr dirty="0"/>
          </a:p>
        </p:txBody>
      </p:sp>
      <p:pic>
        <p:nvPicPr>
          <p:cNvPr id="566" name="Google Shape;56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8141" y="206725"/>
            <a:ext cx="3792083" cy="28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2"/>
          <p:cNvSpPr txBox="1">
            <a:spLocks noGrp="1"/>
          </p:cNvSpPr>
          <p:nvPr>
            <p:ph type="title" idx="4294967295"/>
          </p:nvPr>
        </p:nvSpPr>
        <p:spPr>
          <a:xfrm>
            <a:off x="361975" y="369300"/>
            <a:ext cx="52377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Good Practices Observed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572" name="Google Shape;572;p72"/>
          <p:cNvSpPr txBox="1">
            <a:spLocks noGrp="1"/>
          </p:cNvSpPr>
          <p:nvPr>
            <p:ph type="body" idx="1"/>
          </p:nvPr>
        </p:nvSpPr>
        <p:spPr>
          <a:xfrm>
            <a:off x="484700" y="1591562"/>
            <a:ext cx="3783600" cy="295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sz="1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 of Paychex and related financial processes</a:t>
            </a:r>
            <a:endParaRPr sz="1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sz="1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Access to Paychex restricted to finance and accounting staff</a:t>
            </a:r>
            <a:endParaRPr sz="1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sz="1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defined password policy is in place</a:t>
            </a:r>
            <a:endParaRPr sz="1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sz="1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Servers, desktops, and laptops have McAfee deployed</a:t>
            </a:r>
            <a:endParaRPr sz="1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sz="1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Accurate device inventory maintained</a:t>
            </a:r>
            <a:endParaRPr sz="1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1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73" name="Google Shape;57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6650" y="1898313"/>
            <a:ext cx="2733675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3"/>
          <p:cNvSpPr txBox="1">
            <a:spLocks noGrp="1"/>
          </p:cNvSpPr>
          <p:nvPr>
            <p:ph type="title" idx="4294967295"/>
          </p:nvPr>
        </p:nvSpPr>
        <p:spPr>
          <a:xfrm>
            <a:off x="361975" y="369300"/>
            <a:ext cx="66738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High Level Concerns</a:t>
            </a:r>
            <a:endParaRPr sz="3600"/>
          </a:p>
        </p:txBody>
      </p:sp>
      <p:sp>
        <p:nvSpPr>
          <p:cNvPr id="579" name="Google Shape;579;p73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Unpatched Windows OS and Microsoft Office software is unreliable, error-prone, and creates operational instability and vulnerability exposure.</a:t>
            </a:r>
            <a:endParaRPr/>
          </a:p>
        </p:txBody>
      </p:sp>
      <p:sp>
        <p:nvSpPr>
          <p:cNvPr id="580" name="Google Shape;580;p73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encryption on systems or stored data, leaving all information accessible in cleartext.</a:t>
            </a:r>
            <a:endParaRPr/>
          </a:p>
        </p:txBody>
      </p:sp>
      <p:sp>
        <p:nvSpPr>
          <p:cNvPr id="581" name="Google Shape;581;p73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Outdated Software</a:t>
            </a:r>
            <a:endParaRPr/>
          </a:p>
        </p:txBody>
      </p:sp>
      <p:sp>
        <p:nvSpPr>
          <p:cNvPr id="582" name="Google Shape;582;p73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Encryption</a:t>
            </a:r>
            <a:endParaRPr/>
          </a:p>
        </p:txBody>
      </p:sp>
      <p:sp>
        <p:nvSpPr>
          <p:cNvPr id="583" name="Google Shape;583;p73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Lack of Training &amp; Improper Handling of Information</a:t>
            </a:r>
            <a:endParaRPr/>
          </a:p>
        </p:txBody>
      </p:sp>
      <p:sp>
        <p:nvSpPr>
          <p:cNvPr id="584" name="Google Shape;584;p73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Lack of cybersecurity training and improper handling of HIPAA-relevant information, resulting in elevated human-factor risk and potential regulatory violations.</a:t>
            </a:r>
            <a:endParaRPr/>
          </a:p>
        </p:txBody>
      </p:sp>
      <p:pic>
        <p:nvPicPr>
          <p:cNvPr id="585" name="Google Shape;58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2000" y="3786550"/>
            <a:ext cx="2626076" cy="12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4"/>
          <p:cNvSpPr txBox="1">
            <a:spLocks noGrp="1"/>
          </p:cNvSpPr>
          <p:nvPr>
            <p:ph type="subTitle" idx="2"/>
          </p:nvPr>
        </p:nvSpPr>
        <p:spPr>
          <a:xfrm>
            <a:off x="330575" y="2261250"/>
            <a:ext cx="2356500" cy="43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Goal: Assess using our Risk Assessment Framework</a:t>
            </a:r>
            <a:endParaRPr sz="1200"/>
          </a:p>
        </p:txBody>
      </p:sp>
      <p:sp>
        <p:nvSpPr>
          <p:cNvPr id="591" name="Google Shape;591;p74"/>
          <p:cNvSpPr txBox="1">
            <a:spLocks noGrp="1"/>
          </p:cNvSpPr>
          <p:nvPr>
            <p:ph type="subTitle" idx="4"/>
          </p:nvPr>
        </p:nvSpPr>
        <p:spPr>
          <a:xfrm>
            <a:off x="3396600" y="1404300"/>
            <a:ext cx="2321700" cy="54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Determine likelihood and impact of each pair</a:t>
            </a:r>
            <a:endParaRPr dirty="0"/>
          </a:p>
        </p:txBody>
      </p:sp>
      <p:sp>
        <p:nvSpPr>
          <p:cNvPr id="592" name="Google Shape;592;p74"/>
          <p:cNvSpPr txBox="1">
            <a:spLocks noGrp="1"/>
          </p:cNvSpPr>
          <p:nvPr>
            <p:ph type="subTitle" idx="1"/>
          </p:nvPr>
        </p:nvSpPr>
        <p:spPr>
          <a:xfrm>
            <a:off x="292503" y="1409220"/>
            <a:ext cx="2321700" cy="6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Identify Threat/Vulnerability pairs</a:t>
            </a:r>
            <a:endParaRPr dirty="0"/>
          </a:p>
        </p:txBody>
      </p:sp>
      <p:sp>
        <p:nvSpPr>
          <p:cNvPr id="593" name="Google Shape;593;p74"/>
          <p:cNvSpPr txBox="1">
            <a:spLocks noGrp="1"/>
          </p:cNvSpPr>
          <p:nvPr>
            <p:ph type="subTitle" idx="5"/>
          </p:nvPr>
        </p:nvSpPr>
        <p:spPr>
          <a:xfrm>
            <a:off x="3396600" y="2261250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Using our Risk Profile Table</a:t>
            </a:r>
            <a:endParaRPr sz="1200"/>
          </a:p>
        </p:txBody>
      </p:sp>
      <p:sp>
        <p:nvSpPr>
          <p:cNvPr id="594" name="Google Shape;594;p74"/>
          <p:cNvSpPr txBox="1">
            <a:spLocks noGrp="1"/>
          </p:cNvSpPr>
          <p:nvPr>
            <p:ph type="title"/>
          </p:nvPr>
        </p:nvSpPr>
        <p:spPr>
          <a:xfrm>
            <a:off x="361975" y="369292"/>
            <a:ext cx="57186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Ranking and Findings</a:t>
            </a:r>
            <a:endParaRPr/>
          </a:p>
        </p:txBody>
      </p:sp>
      <p:sp>
        <p:nvSpPr>
          <p:cNvPr id="595" name="Google Shape;595;p74"/>
          <p:cNvSpPr txBox="1">
            <a:spLocks noGrp="1"/>
          </p:cNvSpPr>
          <p:nvPr>
            <p:ph type="subTitle" idx="6"/>
          </p:nvPr>
        </p:nvSpPr>
        <p:spPr>
          <a:xfrm>
            <a:off x="6427825" y="1404300"/>
            <a:ext cx="23217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Determine relative position and severity</a:t>
            </a:r>
            <a:endParaRPr dirty="0"/>
          </a:p>
        </p:txBody>
      </p:sp>
      <p:sp>
        <p:nvSpPr>
          <p:cNvPr id="596" name="Google Shape;596;p74"/>
          <p:cNvSpPr txBox="1">
            <a:spLocks noGrp="1"/>
          </p:cNvSpPr>
          <p:nvPr>
            <p:ph type="subTitle" idx="8"/>
          </p:nvPr>
        </p:nvSpPr>
        <p:spPr>
          <a:xfrm>
            <a:off x="361975" y="3337800"/>
            <a:ext cx="8240400" cy="88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process allowed for consistent risk ranking, assigning each finding a risk level from Low to Critical based on the combination of how likely the event is to occur and the potential operational, financial, or regulatory impact.</a:t>
            </a:r>
            <a:endParaRPr/>
          </a:p>
        </p:txBody>
      </p:sp>
      <p:sp>
        <p:nvSpPr>
          <p:cNvPr id="597" name="Google Shape;597;p74"/>
          <p:cNvSpPr txBox="1">
            <a:spLocks noGrp="1"/>
          </p:cNvSpPr>
          <p:nvPr>
            <p:ph type="subTitle" idx="5"/>
          </p:nvPr>
        </p:nvSpPr>
        <p:spPr>
          <a:xfrm>
            <a:off x="6427825" y="2261250"/>
            <a:ext cx="2321700" cy="21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Using our 3x3 Risk Matrix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Risk Assessment Framework</a:t>
            </a:r>
            <a:endParaRPr sz="2400"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431625" y="369300"/>
          <a:ext cx="3796350" cy="3310925"/>
        </p:xfrm>
        <a:graphic>
          <a:graphicData uri="http://schemas.openxmlformats.org/drawingml/2006/table">
            <a:tbl>
              <a:tblPr>
                <a:noFill/>
                <a:tableStyleId>{4365CCC5-E06B-485A-BA1E-93D77C7B66BD}</a:tableStyleId>
              </a:tblPr>
              <a:tblGrid>
                <a:gridCol w="126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Likelihood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 Risk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unlikely this risk will happen (once every 2 years)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Minimal disruption; negligible operational or financial effect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Risk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risk may happen sometimes (once every 6-12 months)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Noticeable disruption; limited operational or financial strain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 Risk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risk is likely to happen in near future (once every 2-3 months)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 disruption; major operational or financial damage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4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 Risk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risk will definitely occur in very near future (once every 2 weeks)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Severe disruption; mission-threatening operational or financial loss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04" name="Google Shape;604;p75"/>
          <p:cNvGraphicFramePr/>
          <p:nvPr/>
        </p:nvGraphicFramePr>
        <p:xfrm>
          <a:off x="4618950" y="410850"/>
          <a:ext cx="4061300" cy="3227800"/>
        </p:xfrm>
        <a:graphic>
          <a:graphicData uri="http://schemas.openxmlformats.org/drawingml/2006/table">
            <a:tbl>
              <a:tblPr>
                <a:noFill/>
                <a:tableStyleId>{4365CCC5-E06B-485A-BA1E-93D77C7B66BD}</a:tableStyleId>
              </a:tblPr>
              <a:tblGrid>
                <a:gridCol w="101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17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 →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Likelihood↓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Impact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Impact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 Impact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Likelihood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Likelihood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Likelihood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5" name="Google Shape;605;p75"/>
          <p:cNvSpPr txBox="1"/>
          <p:nvPr/>
        </p:nvSpPr>
        <p:spPr>
          <a:xfrm>
            <a:off x="1460550" y="3732925"/>
            <a:ext cx="1936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Figure 1: Risk Profile Table</a:t>
            </a:r>
            <a:endParaRPr sz="1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6" name="Google Shape;606;p75"/>
          <p:cNvSpPr txBox="1"/>
          <p:nvPr/>
        </p:nvSpPr>
        <p:spPr>
          <a:xfrm>
            <a:off x="5809300" y="3732925"/>
            <a:ext cx="1936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Figure 2: 3x3 Risk Matrix</a:t>
            </a:r>
            <a:endParaRPr sz="1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Attackers use documented vulnerabilities in outdated Windows and Office products to achieve dependable code execution.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Unpatched flaws provide a predictable path for payload delivery, escalation, and system control.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With a moderate likelihood of happening, this poses a large impact risk since it threatens significant disruption if services are taken down.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Recommendation: NIST controls CM-7 (Least Functionality), SI-3 (Malicious Code Protection), and CM-6 (Configuration Settings)</a:t>
            </a:r>
            <a:endParaRPr/>
          </a:p>
        </p:txBody>
      </p:sp>
      <p:sp>
        <p:nvSpPr>
          <p:cNvPr id="612" name="Google Shape;612;p76"/>
          <p:cNvSpPr txBox="1">
            <a:spLocks noGrp="1"/>
          </p:cNvSpPr>
          <p:nvPr>
            <p:ph type="title"/>
          </p:nvPr>
        </p:nvSpPr>
        <p:spPr>
          <a:xfrm>
            <a:off x="401100" y="1515572"/>
            <a:ext cx="4045200" cy="16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#1: Malware Execution</a:t>
            </a:r>
            <a:endParaRPr/>
          </a:p>
        </p:txBody>
      </p:sp>
      <p:sp>
        <p:nvSpPr>
          <p:cNvPr id="613" name="Google Shape;613;p76"/>
          <p:cNvSpPr txBox="1">
            <a:spLocks noGrp="1"/>
          </p:cNvSpPr>
          <p:nvPr>
            <p:ph type="subTitle" idx="1"/>
          </p:nvPr>
        </p:nvSpPr>
        <p:spPr>
          <a:xfrm>
            <a:off x="401100" y="3303814"/>
            <a:ext cx="4045200" cy="14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Rating: Critical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Cleartext storage allows anyone with system access to read or copy data without encountering any security barriers.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This removes the need for technical exploitation and turns any access event into a full data exposure.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The result is immediate loss of confidentiality across all stored information, which poses a large risk due to potential financial and reputational damage.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Recommendation: NIST controls SC-13 (Cryptographic Protection), AC-2 (Account Management), and IA-2 (Identification and Authentication)</a:t>
            </a:r>
            <a:endParaRPr/>
          </a:p>
        </p:txBody>
      </p:sp>
      <p:sp>
        <p:nvSpPr>
          <p:cNvPr id="619" name="Google Shape;619;p77"/>
          <p:cNvSpPr txBox="1">
            <a:spLocks noGrp="1"/>
          </p:cNvSpPr>
          <p:nvPr>
            <p:ph type="title"/>
          </p:nvPr>
        </p:nvSpPr>
        <p:spPr>
          <a:xfrm>
            <a:off x="307200" y="174635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#2: Unprotected Data Exposure</a:t>
            </a:r>
            <a:endParaRPr/>
          </a:p>
        </p:txBody>
      </p:sp>
      <p:sp>
        <p:nvSpPr>
          <p:cNvPr id="620" name="Google Shape;620;p77"/>
          <p:cNvSpPr txBox="1">
            <a:spLocks noGrp="1"/>
          </p:cNvSpPr>
          <p:nvPr>
            <p:ph type="subTitle" idx="1"/>
          </p:nvPr>
        </p:nvSpPr>
        <p:spPr>
          <a:xfrm>
            <a:off x="307200" y="331625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Rating: Critical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Cleartext storage allows anyone with system access to read or copy data without encountering any security barriers.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This removes the need for technical exploitation and turns any access event into a full data exposure.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The result is immediate loss of confidentiality across all stored information, which poses a large risk due to potential financial and reputational damage.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Recommendation: NIST controls AT-2 (Security Awareness Training), AT-3 (Role-Based Training), and PS-6 (Personnel Security - Position Risk Designation)</a:t>
            </a:r>
            <a:endParaRPr/>
          </a:p>
        </p:txBody>
      </p:sp>
      <p:sp>
        <p:nvSpPr>
          <p:cNvPr id="626" name="Google Shape;626;p78"/>
          <p:cNvSpPr txBox="1">
            <a:spLocks noGrp="1"/>
          </p:cNvSpPr>
          <p:nvPr>
            <p:ph type="title"/>
          </p:nvPr>
        </p:nvSpPr>
        <p:spPr>
          <a:xfrm>
            <a:off x="307200" y="174635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#3: Human-Factor Security Gaps</a:t>
            </a:r>
            <a:endParaRPr/>
          </a:p>
        </p:txBody>
      </p:sp>
      <p:sp>
        <p:nvSpPr>
          <p:cNvPr id="627" name="Google Shape;627;p78"/>
          <p:cNvSpPr txBox="1">
            <a:spLocks noGrp="1"/>
          </p:cNvSpPr>
          <p:nvPr>
            <p:ph type="subTitle" idx="1"/>
          </p:nvPr>
        </p:nvSpPr>
        <p:spPr>
          <a:xfrm>
            <a:off x="307200" y="331625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Rating: Critical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9"/>
          <p:cNvSpPr txBox="1">
            <a:spLocks noGrp="1"/>
          </p:cNvSpPr>
          <p:nvPr>
            <p:ph type="title"/>
          </p:nvPr>
        </p:nvSpPr>
        <p:spPr>
          <a:xfrm>
            <a:off x="364650" y="369300"/>
            <a:ext cx="84147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Cost Benefit Analysis: Malware Execution</a:t>
            </a:r>
            <a:endParaRPr dirty="0"/>
          </a:p>
        </p:txBody>
      </p:sp>
      <p:sp>
        <p:nvSpPr>
          <p:cNvPr id="633" name="Google Shape;633;p79"/>
          <p:cNvSpPr txBox="1">
            <a:spLocks noGrp="1"/>
          </p:cNvSpPr>
          <p:nvPr>
            <p:ph type="subTitle" idx="1"/>
          </p:nvPr>
        </p:nvSpPr>
        <p:spPr>
          <a:xfrm>
            <a:off x="720750" y="2139824"/>
            <a:ext cx="3154800" cy="220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Asset Value: $3,000,000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Exposure Factor: 50%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Single Loss Expectancy: $1,500,000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Annual Rate of Occurrence: Once every five years (⅕)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Annual Loss Expectancy: $300,000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634" name="Google Shape;634;p79"/>
          <p:cNvSpPr txBox="1">
            <a:spLocks noGrp="1"/>
          </p:cNvSpPr>
          <p:nvPr>
            <p:ph type="subTitle" idx="2"/>
          </p:nvPr>
        </p:nvSpPr>
        <p:spPr>
          <a:xfrm>
            <a:off x="442650" y="1184800"/>
            <a:ext cx="7980600" cy="234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Goal: Evaluate annual expected loss for the top risk and help determine whether the investment effectively reduces financial exposure</a:t>
            </a:r>
            <a:endParaRPr sz="1200"/>
          </a:p>
        </p:txBody>
      </p:sp>
      <p:sp>
        <p:nvSpPr>
          <p:cNvPr id="635" name="Google Shape;635;p79"/>
          <p:cNvSpPr txBox="1">
            <a:spLocks noGrp="1"/>
          </p:cNvSpPr>
          <p:nvPr>
            <p:ph type="subTitle" idx="3"/>
          </p:nvPr>
        </p:nvSpPr>
        <p:spPr>
          <a:xfrm>
            <a:off x="5268450" y="2139675"/>
            <a:ext cx="3154800" cy="220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Risk Mitigation: EDR solution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Control annual cost: $12,600</a:t>
            </a:r>
            <a:endParaRPr sz="1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+$1,000 one-time training cost</a:t>
            </a:r>
            <a:endParaRPr sz="1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+$600 annual maintenance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Annualized over 3-year tool life: $5,133.33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0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$294,866.67</a:t>
            </a:r>
            <a:endParaRPr sz="8000"/>
          </a:p>
        </p:txBody>
      </p:sp>
      <p:sp>
        <p:nvSpPr>
          <p:cNvPr id="641" name="Google Shape;641;p8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Annual Loss Reduction</a:t>
            </a:r>
            <a:endParaRPr sz="14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Takeaway: Implementing the control would be highly cost-effective for CPH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81"/>
          <p:cNvSpPr txBox="1">
            <a:spLocks noGrp="1"/>
          </p:cNvSpPr>
          <p:nvPr>
            <p:ph type="title"/>
          </p:nvPr>
        </p:nvSpPr>
        <p:spPr>
          <a:xfrm>
            <a:off x="512775" y="2385000"/>
            <a:ext cx="9895200" cy="8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3-Year Outlook</a:t>
            </a:r>
            <a:endParaRPr/>
          </a:p>
        </p:txBody>
      </p:sp>
      <p:sp>
        <p:nvSpPr>
          <p:cNvPr id="648" name="Google Shape;648;p81"/>
          <p:cNvSpPr txBox="1">
            <a:spLocks noGrp="1"/>
          </p:cNvSpPr>
          <p:nvPr>
            <p:ph type="subTitle" idx="5"/>
          </p:nvPr>
        </p:nvSpPr>
        <p:spPr>
          <a:xfrm>
            <a:off x="1117050" y="3243901"/>
            <a:ext cx="2613300" cy="432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High-level overview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82"/>
          <p:cNvSpPr txBox="1">
            <a:spLocks noGrp="1"/>
          </p:cNvSpPr>
          <p:nvPr>
            <p:ph type="body" idx="2"/>
          </p:nvPr>
        </p:nvSpPr>
        <p:spPr>
          <a:xfrm>
            <a:off x="4938725" y="2096773"/>
            <a:ext cx="3838500" cy="8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Manager</a:t>
            </a:r>
            <a:endParaRPr/>
          </a:p>
        </p:txBody>
      </p:sp>
      <p:sp>
        <p:nvSpPr>
          <p:cNvPr id="655" name="Google Shape;655;p82"/>
          <p:cNvSpPr txBox="1">
            <a:spLocks noGrp="1"/>
          </p:cNvSpPr>
          <p:nvPr>
            <p:ph type="body" idx="1"/>
          </p:nvPr>
        </p:nvSpPr>
        <p:spPr>
          <a:xfrm>
            <a:off x="410550" y="2096768"/>
            <a:ext cx="38385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IT Manager</a:t>
            </a:r>
            <a:endParaRPr/>
          </a:p>
        </p:txBody>
      </p:sp>
      <p:sp>
        <p:nvSpPr>
          <p:cNvPr id="656" name="Google Shape;656;p82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Manager</a:t>
            </a:r>
            <a:endParaRPr/>
          </a:p>
        </p:txBody>
      </p:sp>
      <p:sp>
        <p:nvSpPr>
          <p:cNvPr id="657" name="Google Shape;657;p82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Manager</a:t>
            </a:r>
            <a:endParaRPr/>
          </a:p>
        </p:txBody>
      </p:sp>
      <p:sp>
        <p:nvSpPr>
          <p:cNvPr id="658" name="Google Shape;658;p82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 1</a:t>
            </a:r>
            <a:endParaRPr/>
          </a:p>
        </p:txBody>
      </p:sp>
      <p:sp>
        <p:nvSpPr>
          <p:cNvPr id="659" name="Google Shape;659;p82"/>
          <p:cNvSpPr txBox="1">
            <a:spLocks noGrp="1"/>
          </p:cNvSpPr>
          <p:nvPr>
            <p:ph type="subTitle" idx="5"/>
          </p:nvPr>
        </p:nvSpPr>
        <p:spPr>
          <a:xfrm>
            <a:off x="366775" y="1277880"/>
            <a:ext cx="3838500" cy="7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 outdated Windows and Office Systems</a:t>
            </a:r>
            <a:endParaRPr/>
          </a:p>
        </p:txBody>
      </p:sp>
      <p:sp>
        <p:nvSpPr>
          <p:cNvPr id="660" name="Google Shape;660;p82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Full Disk &amp; Data Encryption</a:t>
            </a:r>
            <a:endParaRPr/>
          </a:p>
        </p:txBody>
      </p:sp>
      <p:sp>
        <p:nvSpPr>
          <p:cNvPr id="661" name="Google Shape;661;p82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 Basic Security Controls</a:t>
            </a:r>
            <a:endParaRPr/>
          </a:p>
        </p:txBody>
      </p:sp>
      <p:sp>
        <p:nvSpPr>
          <p:cNvPr id="662" name="Google Shape;662;p82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Centralize File Storage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3"/>
          <p:cNvSpPr txBox="1">
            <a:spLocks noGrp="1"/>
          </p:cNvSpPr>
          <p:nvPr>
            <p:ph type="body" idx="2"/>
          </p:nvPr>
        </p:nvSpPr>
        <p:spPr>
          <a:xfrm>
            <a:off x="4938725" y="2096773"/>
            <a:ext cx="3838500" cy="8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Manager</a:t>
            </a:r>
            <a:endParaRPr/>
          </a:p>
        </p:txBody>
      </p:sp>
      <p:sp>
        <p:nvSpPr>
          <p:cNvPr id="668" name="Google Shape;668;p83"/>
          <p:cNvSpPr txBox="1">
            <a:spLocks noGrp="1"/>
          </p:cNvSpPr>
          <p:nvPr>
            <p:ph type="body" idx="1"/>
          </p:nvPr>
        </p:nvSpPr>
        <p:spPr>
          <a:xfrm>
            <a:off x="410550" y="2096768"/>
            <a:ext cx="38385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IT Manager</a:t>
            </a:r>
            <a:endParaRPr/>
          </a:p>
        </p:txBody>
      </p:sp>
      <p:sp>
        <p:nvSpPr>
          <p:cNvPr id="669" name="Google Shape;669;p83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Manager</a:t>
            </a:r>
            <a:endParaRPr/>
          </a:p>
        </p:txBody>
      </p:sp>
      <p:sp>
        <p:nvSpPr>
          <p:cNvPr id="670" name="Google Shape;670;p83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Manager</a:t>
            </a:r>
            <a:endParaRPr/>
          </a:p>
        </p:txBody>
      </p:sp>
      <p:sp>
        <p:nvSpPr>
          <p:cNvPr id="671" name="Google Shape;671;p83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 2</a:t>
            </a:r>
            <a:endParaRPr/>
          </a:p>
        </p:txBody>
      </p:sp>
      <p:sp>
        <p:nvSpPr>
          <p:cNvPr id="672" name="Google Shape;672;p83"/>
          <p:cNvSpPr txBox="1">
            <a:spLocks noGrp="1"/>
          </p:cNvSpPr>
          <p:nvPr>
            <p:ph type="subTitle" idx="5"/>
          </p:nvPr>
        </p:nvSpPr>
        <p:spPr>
          <a:xfrm>
            <a:off x="366750" y="1168720"/>
            <a:ext cx="3838500" cy="7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Network Segmentation</a:t>
            </a:r>
            <a:endParaRPr dirty="0"/>
          </a:p>
        </p:txBody>
      </p:sp>
      <p:sp>
        <p:nvSpPr>
          <p:cNvPr id="673" name="Google Shape;673;p83"/>
          <p:cNvSpPr txBox="1">
            <a:spLocks noGrp="1"/>
          </p:cNvSpPr>
          <p:nvPr>
            <p:ph type="subTitle" idx="6"/>
          </p:nvPr>
        </p:nvSpPr>
        <p:spPr>
          <a:xfrm>
            <a:off x="4938725" y="1356844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MFA Implementation</a:t>
            </a:r>
            <a:endParaRPr/>
          </a:p>
        </p:txBody>
      </p:sp>
      <p:sp>
        <p:nvSpPr>
          <p:cNvPr id="674" name="Google Shape;674;p83"/>
          <p:cNvSpPr txBox="1">
            <a:spLocks noGrp="1"/>
          </p:cNvSpPr>
          <p:nvPr>
            <p:ph type="subTitle" idx="7"/>
          </p:nvPr>
        </p:nvSpPr>
        <p:spPr>
          <a:xfrm>
            <a:off x="4938736" y="29491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Collection &amp; Security Monitoring</a:t>
            </a:r>
            <a:endParaRPr/>
          </a:p>
        </p:txBody>
      </p:sp>
      <p:sp>
        <p:nvSpPr>
          <p:cNvPr id="675" name="Google Shape;675;p83"/>
          <p:cNvSpPr txBox="1">
            <a:spLocks noGrp="1"/>
          </p:cNvSpPr>
          <p:nvPr>
            <p:ph type="subTitle" idx="8"/>
          </p:nvPr>
        </p:nvSpPr>
        <p:spPr>
          <a:xfrm>
            <a:off x="366750" y="2978180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Centralized Backup &amp; Recovery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84"/>
          <p:cNvSpPr txBox="1">
            <a:spLocks noGrp="1"/>
          </p:cNvSpPr>
          <p:nvPr>
            <p:ph type="body" idx="2"/>
          </p:nvPr>
        </p:nvSpPr>
        <p:spPr>
          <a:xfrm>
            <a:off x="4938725" y="2096773"/>
            <a:ext cx="3838500" cy="8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Manager</a:t>
            </a:r>
            <a:endParaRPr/>
          </a:p>
        </p:txBody>
      </p:sp>
      <p:sp>
        <p:nvSpPr>
          <p:cNvPr id="681" name="Google Shape;681;p84"/>
          <p:cNvSpPr txBox="1">
            <a:spLocks noGrp="1"/>
          </p:cNvSpPr>
          <p:nvPr>
            <p:ph type="body" idx="1"/>
          </p:nvPr>
        </p:nvSpPr>
        <p:spPr>
          <a:xfrm>
            <a:off x="410550" y="2096768"/>
            <a:ext cx="38385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IT Manager / Leadership</a:t>
            </a:r>
            <a:endParaRPr/>
          </a:p>
        </p:txBody>
      </p:sp>
      <p:sp>
        <p:nvSpPr>
          <p:cNvPr id="682" name="Google Shape;682;p84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Resources, IT</a:t>
            </a:r>
            <a:endParaRPr/>
          </a:p>
        </p:txBody>
      </p:sp>
      <p:sp>
        <p:nvSpPr>
          <p:cNvPr id="683" name="Google Shape;683;p84"/>
          <p:cNvSpPr txBox="1">
            <a:spLocks noGrp="1"/>
          </p:cNvSpPr>
          <p:nvPr>
            <p:ph type="body" idx="4"/>
          </p:nvPr>
        </p:nvSpPr>
        <p:spPr>
          <a:xfrm>
            <a:off x="5001086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 Manager / Leadership</a:t>
            </a:r>
            <a:endParaRPr dirty="0"/>
          </a:p>
        </p:txBody>
      </p:sp>
      <p:sp>
        <p:nvSpPr>
          <p:cNvPr id="684" name="Google Shape;684;p84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 3</a:t>
            </a:r>
            <a:endParaRPr/>
          </a:p>
        </p:txBody>
      </p:sp>
      <p:sp>
        <p:nvSpPr>
          <p:cNvPr id="685" name="Google Shape;685;p84"/>
          <p:cNvSpPr txBox="1">
            <a:spLocks noGrp="1"/>
          </p:cNvSpPr>
          <p:nvPr>
            <p:ph type="subTitle" idx="5"/>
          </p:nvPr>
        </p:nvSpPr>
        <p:spPr>
          <a:xfrm>
            <a:off x="366775" y="1277880"/>
            <a:ext cx="3838500" cy="7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 IT &amp; Security Policies</a:t>
            </a:r>
            <a:endParaRPr/>
          </a:p>
        </p:txBody>
      </p:sp>
      <p:sp>
        <p:nvSpPr>
          <p:cNvPr id="686" name="Google Shape;686;p84"/>
          <p:cNvSpPr txBox="1">
            <a:spLocks noGrp="1"/>
          </p:cNvSpPr>
          <p:nvPr>
            <p:ph type="subTitle" idx="6"/>
          </p:nvPr>
        </p:nvSpPr>
        <p:spPr>
          <a:xfrm>
            <a:off x="4938725" y="1411846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Annual Risk &amp; Security Review</a:t>
            </a:r>
            <a:endParaRPr dirty="0"/>
          </a:p>
        </p:txBody>
      </p:sp>
      <p:sp>
        <p:nvSpPr>
          <p:cNvPr id="687" name="Google Shape;687;p84"/>
          <p:cNvSpPr txBox="1">
            <a:spLocks noGrp="1"/>
          </p:cNvSpPr>
          <p:nvPr>
            <p:ph type="subTitle" idx="7"/>
          </p:nvPr>
        </p:nvSpPr>
        <p:spPr>
          <a:xfrm>
            <a:off x="5001086" y="3003288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Disaster Recovery Plan Enhancements</a:t>
            </a:r>
            <a:endParaRPr dirty="0"/>
          </a:p>
        </p:txBody>
      </p:sp>
      <p:sp>
        <p:nvSpPr>
          <p:cNvPr id="688" name="Google Shape;688;p84"/>
          <p:cNvSpPr txBox="1">
            <a:spLocks noGrp="1"/>
          </p:cNvSpPr>
          <p:nvPr>
            <p:ph type="subTitle" idx="8"/>
          </p:nvPr>
        </p:nvSpPr>
        <p:spPr>
          <a:xfrm>
            <a:off x="366750" y="3003288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Staff Security Awareness Training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5"/>
          <p:cNvSpPr txBox="1">
            <a:spLocks noGrp="1"/>
          </p:cNvSpPr>
          <p:nvPr>
            <p:ph type="body" idx="1"/>
          </p:nvPr>
        </p:nvSpPr>
        <p:spPr>
          <a:xfrm>
            <a:off x="366725" y="1759113"/>
            <a:ext cx="3838500" cy="14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Provides CPH with a clear view of priorities and actionable recommendations, with top risks mapped to NIST controls for guidance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Scored Vulnerability/Threat pairs using the DREAD model, which prioritizes which risks are most serious</a:t>
            </a:r>
            <a:endParaRPr sz="1200"/>
          </a:p>
        </p:txBody>
      </p:sp>
      <p:sp>
        <p:nvSpPr>
          <p:cNvPr id="694" name="Google Shape;694;p8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Conducted root cause analysis, identifying factors in CHP’s top risk: Malware Execution on outdated Windows and Office systems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Clarifies each underlying cause driving malware execution risk</a:t>
            </a:r>
            <a:endParaRPr sz="1200"/>
          </a:p>
        </p:txBody>
      </p:sp>
      <p:sp>
        <p:nvSpPr>
          <p:cNvPr id="695" name="Google Shape;695;p85"/>
          <p:cNvSpPr txBox="1">
            <a:spLocks noGrp="1"/>
          </p:cNvSpPr>
          <p:nvPr>
            <p:ph type="body" idx="3"/>
          </p:nvPr>
        </p:nvSpPr>
        <p:spPr>
          <a:xfrm>
            <a:off x="2539800" y="367192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Performed BIA for the three identified critical risks, which evaluated operational, financial, and regulatory risk impacts for each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Estimates potential downtime, data loss, and compliance consequences</a:t>
            </a:r>
            <a:endParaRPr sz="1200"/>
          </a:p>
        </p:txBody>
      </p:sp>
      <p:sp>
        <p:nvSpPr>
          <p:cNvPr id="696" name="Google Shape;696;p8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Other Findings</a:t>
            </a:r>
            <a:endParaRPr sz="3600"/>
          </a:p>
        </p:txBody>
      </p:sp>
      <p:sp>
        <p:nvSpPr>
          <p:cNvPr id="697" name="Google Shape;697;p8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Register with DREAD</a:t>
            </a:r>
            <a:endParaRPr/>
          </a:p>
        </p:txBody>
      </p:sp>
      <p:sp>
        <p:nvSpPr>
          <p:cNvPr id="698" name="Google Shape;698;p8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Fishbone</a:t>
            </a:r>
            <a:endParaRPr/>
          </a:p>
        </p:txBody>
      </p:sp>
      <p:sp>
        <p:nvSpPr>
          <p:cNvPr id="699" name="Google Shape;699;p85"/>
          <p:cNvSpPr txBox="1">
            <a:spLocks noGrp="1"/>
          </p:cNvSpPr>
          <p:nvPr>
            <p:ph type="subTitle" idx="8"/>
          </p:nvPr>
        </p:nvSpPr>
        <p:spPr>
          <a:xfrm>
            <a:off x="2539800" y="319071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Impact Analysis (BIA)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86"/>
          <p:cNvSpPr txBox="1">
            <a:spLocks noGrp="1"/>
          </p:cNvSpPr>
          <p:nvPr>
            <p:ph type="title"/>
          </p:nvPr>
        </p:nvSpPr>
        <p:spPr>
          <a:xfrm>
            <a:off x="476172" y="2008875"/>
            <a:ext cx="4163100" cy="1372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Thank you</a:t>
            </a:r>
            <a:endParaRPr sz="3600"/>
          </a:p>
        </p:txBody>
      </p:sp>
      <p:sp>
        <p:nvSpPr>
          <p:cNvPr id="705" name="Google Shape;705;p86"/>
          <p:cNvSpPr txBox="1"/>
          <p:nvPr/>
        </p:nvSpPr>
        <p:spPr>
          <a:xfrm>
            <a:off x="20325" y="3478600"/>
            <a:ext cx="30000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For Questions Contact:</a:t>
            </a:r>
            <a:b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</a:b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Roberto Reade </a:t>
            </a:r>
            <a:endParaRPr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Ben Sippel</a:t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1251</Words>
  <Application>Microsoft Office PowerPoint</Application>
  <PresentationFormat>On-screen Show (16:9)</PresentationFormat>
  <Paragraphs>190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Newsreader</vt:lpstr>
      <vt:lpstr>DM Sans SemiBold</vt:lpstr>
      <vt:lpstr>DM Sans</vt:lpstr>
      <vt:lpstr>Newsreader SemiBold</vt:lpstr>
      <vt:lpstr>DM Sans Light</vt:lpstr>
      <vt:lpstr>Calibri</vt:lpstr>
      <vt:lpstr>Arial</vt:lpstr>
      <vt:lpstr>Simple Light</vt:lpstr>
      <vt:lpstr>Business Plan Presentation</vt:lpstr>
      <vt:lpstr>Cybersecurity Risk Assessment and Mitigation Strategy: Charity Project of Henrietta </vt:lpstr>
      <vt:lpstr>Our Team</vt:lpstr>
      <vt:lpstr>The Charity Project of Henrietta</vt:lpstr>
      <vt:lpstr>Engagement Goals</vt:lpstr>
      <vt:lpstr>Current Security Posture</vt:lpstr>
      <vt:lpstr>Good Practices Observed</vt:lpstr>
      <vt:lpstr>High Level Concerns</vt:lpstr>
      <vt:lpstr>Risk Ranking and Findings</vt:lpstr>
      <vt:lpstr>PowerPoint Presentation</vt:lpstr>
      <vt:lpstr>Risk #1: Malware Execution</vt:lpstr>
      <vt:lpstr>Risk #2: Unprotected Data Exposure</vt:lpstr>
      <vt:lpstr>Risk #3: Human-Factor Security Gaps</vt:lpstr>
      <vt:lpstr>Cost Benefit Analysis: Malware Execution</vt:lpstr>
      <vt:lpstr>$294,866.67</vt:lpstr>
      <vt:lpstr>3-Year Outlook</vt:lpstr>
      <vt:lpstr>Year 1</vt:lpstr>
      <vt:lpstr>Year 2</vt:lpstr>
      <vt:lpstr>Year 3</vt:lpstr>
      <vt:lpstr>Other Findings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Roberto Reade</cp:lastModifiedBy>
  <cp:revision>1</cp:revision>
  <dcterms:modified xsi:type="dcterms:W3CDTF">2025-12-29T03:52:41Z</dcterms:modified>
</cp:coreProperties>
</file>